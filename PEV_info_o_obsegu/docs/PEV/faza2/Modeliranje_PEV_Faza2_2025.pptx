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76" r:id="rId3"/>
    <p:sldId id="271" r:id="rId4"/>
    <p:sldId id="290" r:id="rId5"/>
    <p:sldId id="308" r:id="rId6"/>
    <p:sldId id="309" r:id="rId7"/>
    <p:sldId id="291" r:id="rId8"/>
    <p:sldId id="310" r:id="rId9"/>
    <p:sldId id="311" r:id="rId10"/>
    <p:sldId id="312" r:id="rId11"/>
    <p:sldId id="313" r:id="rId12"/>
    <p:sldId id="292" r:id="rId13"/>
    <p:sldId id="314" r:id="rId14"/>
    <p:sldId id="316" r:id="rId15"/>
    <p:sldId id="315" r:id="rId16"/>
    <p:sldId id="289" r:id="rId17"/>
    <p:sldId id="293" r:id="rId18"/>
    <p:sldId id="318" r:id="rId19"/>
    <p:sldId id="294" r:id="rId20"/>
    <p:sldId id="320" r:id="rId21"/>
    <p:sldId id="295" r:id="rId22"/>
    <p:sldId id="296" r:id="rId23"/>
    <p:sldId id="317" r:id="rId24"/>
    <p:sldId id="319" r:id="rId25"/>
    <p:sldId id="297" r:id="rId26"/>
    <p:sldId id="298" r:id="rId27"/>
    <p:sldId id="299" r:id="rId28"/>
    <p:sldId id="300" r:id="rId29"/>
    <p:sldId id="288" r:id="rId30"/>
    <p:sldId id="301" r:id="rId31"/>
    <p:sldId id="321" r:id="rId32"/>
    <p:sldId id="302" r:id="rId33"/>
    <p:sldId id="303" r:id="rId34"/>
    <p:sldId id="304" r:id="rId35"/>
    <p:sldId id="272" r:id="rId36"/>
    <p:sldId id="306" r:id="rId37"/>
    <p:sldId id="307" r:id="rId38"/>
  </p:sldIdLst>
  <p:sldSz cx="9144000" cy="6858000" type="screen4x3"/>
  <p:notesSz cx="6858000" cy="9144000"/>
  <p:defaultTextStyle>
    <a:defPPr>
      <a:defRPr lang="sl-SI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25" autoAdjust="0"/>
  </p:normalViewPr>
  <p:slideViewPr>
    <p:cSldViewPr>
      <p:cViewPr>
        <p:scale>
          <a:sx n="125" d="100"/>
          <a:sy n="125" d="100"/>
        </p:scale>
        <p:origin x="1116" y="198"/>
      </p:cViewPr>
      <p:guideLst>
        <p:guide orient="horz" pos="42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979B2F-95FB-4B83-A4FD-4E11FD7F4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70662-ED78-458E-86D3-D617E8BC25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F8D2C99-A757-41BF-9E66-E406FB03A375}" type="datetimeFigureOut">
              <a:rPr lang="sl-SI"/>
              <a:pPr>
                <a:defRPr/>
              </a:pPr>
              <a:t>10. 02. 2025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F370A-BADF-4A89-840D-2D695708C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32CB0-2E5D-4D20-8BBD-C8C07962EB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D853F85-8F56-463D-8C24-8D9C1F076614}" type="slidenum">
              <a:rPr lang="sl-SI"/>
              <a:pPr>
                <a:defRPr/>
              </a:pPr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3176D0-EEB0-40EB-9C70-236849357E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F49B9-484F-476D-882F-BA123E773C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A4AD4C3-7C64-4435-8165-B4433A1BF656}" type="datetimeFigureOut">
              <a:rPr lang="sl-SI"/>
              <a:pPr>
                <a:defRPr/>
              </a:pPr>
              <a:t>10. 02. 2025</a:t>
            </a:fld>
            <a:endParaRPr lang="sl-SI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718782-61D9-49CF-BCAA-7597C60DD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l-SI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1A08370-C3C7-4B5C-BD1C-259B55202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sl-SI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41E10-C5B2-4733-A513-BFAF5DFF0E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7F384-7ECC-418F-B54A-302970700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09F9AC8-E343-4249-A7B2-0F91E9BBDB93}" type="slidenum">
              <a:rPr lang="sl-SI"/>
              <a:pPr>
                <a:defRPr/>
              </a:pPr>
              <a:t>‹#›</a:t>
            </a:fld>
            <a:endParaRPr lang="sl-S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l-SI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411CE-2441-4CDC-968E-F9DB808E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84135-A4FF-471B-BC8E-E79987770C18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0F7F9-E8CF-4C29-AADA-320C381A2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7E1F5-C9A4-4C53-BE71-E42C7DC48317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06925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F015-CBA1-4C20-B4E7-F8F2E2A5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62867-AF6B-4C1A-91BF-67FA9C55FF8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931239-1A80-4884-85E7-0707CF8EAC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36866-7FFB-4167-845B-ABDE039C6A34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10220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0D49F-DC19-4735-AF20-628C49EB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71961-4CFC-4B05-9DB5-8E958A6CAB71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2E4F57-DFC3-4DDA-ACE8-F91C3129B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52E1A-3FAE-461F-B0A0-8E74E859B746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3688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87B401-37B1-481B-8AB3-0E80ADD5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4A3F4-5229-445C-ABA0-7527B0FB3CEE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EFAD9-6754-40CA-AC8F-C04389B99C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C648A-4C20-4D42-AB74-F35AAF69D861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6906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3A79B7-BB33-409B-AF66-4133A822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D5C00-BB83-478A-B766-60BFDE27AFBE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1749F0-F1CD-4ECE-AACA-2E873CD379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3BCB4-AC17-4A06-A707-3E982CE63AB5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6473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sl-SI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93810CD-46C4-4D82-8AE2-1BBAD4D2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F4FEB-D713-46A0-A6DA-4ED15877BC31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7566D4-FFF4-40E4-A31D-B3107FED87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700684-6615-4159-9789-D4F87368391C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5859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2CA9C92-B863-4141-ADED-097D19FF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DA3BF-02D1-4A0A-888F-6EBF9841BD2B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A930CB-C6FD-483F-9542-EB60F2DE21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8831F-C485-4A3E-A4A9-525C0C3610AB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6916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DAA55E9-7E72-41B8-AD09-79E1B196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0F4C6-F40F-46D6-999D-2A0AF2C82EB0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8987-45BE-4FA6-A5B1-D6D570CF9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A0795-990A-473F-B6E0-FCA243EB0694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51697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l-SI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8AFA2C-6CD7-4AC8-8E10-6338EA6D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24439-5532-41FA-83C2-9F97C1E9CDBD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21C0A-C48A-4846-B914-B3A850103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184CD-F6FD-4D9D-B0B5-3E00AD2CF083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37171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2E8CF-D74A-49A4-938F-0CF358F4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85EE59-4D2E-4121-8748-C5F5DD823650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86B7FB2-AEB0-4D15-9D19-B73BBDA44B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7DC38-2A44-480F-B127-FAE45209E56E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79172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61FC7-4058-424E-8FBA-A0127F03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4C1D1-AA03-46C6-A0FA-4F486E227852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C2AA98-39AE-48B6-917C-4DF25DA389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D0DF-3EAC-4041-95F1-698E79BED89F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46198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3762C96-73AB-46A5-ADFA-966798B57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9230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l-SI"/>
              <a:t>Click to edit Master title style</a:t>
            </a:r>
            <a:endParaRPr lang="sl-SI" altLang="sl-SI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77C808D-9111-4C71-A478-2CE1DCB57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l-SI"/>
              <a:t>Click to edit Master text styles</a:t>
            </a:r>
          </a:p>
          <a:p>
            <a:pPr lvl="1"/>
            <a:r>
              <a:rPr lang="en-US" altLang="sl-SI"/>
              <a:t>Second level</a:t>
            </a:r>
          </a:p>
          <a:p>
            <a:pPr lvl="2"/>
            <a:r>
              <a:rPr lang="en-US" altLang="sl-SI"/>
              <a:t>Third level</a:t>
            </a:r>
          </a:p>
          <a:p>
            <a:pPr lvl="3"/>
            <a:r>
              <a:rPr lang="en-US" altLang="sl-SI"/>
              <a:t>Fourth level</a:t>
            </a:r>
          </a:p>
          <a:p>
            <a:pPr lvl="4"/>
            <a:r>
              <a:rPr lang="en-US" altLang="sl-SI"/>
              <a:t>Fifth level</a:t>
            </a:r>
            <a:endParaRPr lang="sl-SI" alt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1AC65-B9B1-4C9F-96DD-BE0687A4A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4849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B100053-30CD-48C7-8D0C-F618C8EC275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pic>
        <p:nvPicPr>
          <p:cNvPr id="1029" name="Picture 6">
            <a:extLst>
              <a:ext uri="{FF2B5EF4-FFF2-40B4-BE49-F238E27FC236}">
                <a16:creationId xmlns:a16="http://schemas.microsoft.com/office/drawing/2014/main" id="{4E0122CC-22E8-4FFB-9404-835DC8479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50825"/>
            <a:ext cx="1490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66DF6A77-FE5D-4A4F-86CB-0753D7C47296}"/>
              </a:ext>
            </a:extLst>
          </p:cNvPr>
          <p:cNvSpPr txBox="1">
            <a:spLocks/>
          </p:cNvSpPr>
          <p:nvPr/>
        </p:nvSpPr>
        <p:spPr>
          <a:xfrm>
            <a:off x="6011863" y="6448425"/>
            <a:ext cx="2447925" cy="365125"/>
          </a:xfrm>
          <a:prstGeom prst="rect">
            <a:avLst/>
          </a:prstGeom>
        </p:spPr>
        <p:txBody>
          <a:bodyPr/>
          <a:lstStyle>
            <a:defPPr>
              <a:defRPr lang="sl-S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l-SI" sz="800" dirty="0">
                <a:solidFill>
                  <a:schemeClr val="bg1">
                    <a:lumMod val="65000"/>
                  </a:schemeClr>
                </a:solidFill>
              </a:rPr>
              <a:t>GEODETSKA UPRAVA REPUBLIKE SLOVENIJE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l-SI" sz="800" dirty="0">
                <a:solidFill>
                  <a:schemeClr val="bg1">
                    <a:lumMod val="65000"/>
                  </a:schemeClr>
                </a:solidFill>
              </a:rPr>
              <a:t>MINISTRSTVO ZA NARAVNE VIRE IN PROSTOR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1BA02-03F0-45DD-ACAA-4AF27A4F77F7}"/>
              </a:ext>
            </a:extLst>
          </p:cNvPr>
          <p:cNvSpPr/>
          <p:nvPr/>
        </p:nvSpPr>
        <p:spPr>
          <a:xfrm flipH="1">
            <a:off x="8820150" y="908050"/>
            <a:ext cx="323850" cy="59499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l-S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AA8F5B-D8A1-48E2-89AB-6BBAC008F231}"/>
              </a:ext>
            </a:extLst>
          </p:cNvPr>
          <p:cNvSpPr/>
          <p:nvPr/>
        </p:nvSpPr>
        <p:spPr>
          <a:xfrm flipH="1">
            <a:off x="0" y="0"/>
            <a:ext cx="8820150" cy="11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8767-4B07-4306-A170-A6F9C46F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0150" y="6492875"/>
            <a:ext cx="323850" cy="365125"/>
          </a:xfrm>
          <a:prstGeom prst="rect">
            <a:avLst/>
          </a:prstGeom>
          <a:noFill/>
        </p:spPr>
        <p:txBody>
          <a:bodyPr vert="horz" wrap="none" lIns="0" tIns="45720" rIns="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52DC201-0F8E-429D-B241-09DCAE984C4B}" type="slidenum">
              <a:rPr lang="sl-SI"/>
              <a:pPr>
                <a:defRPr/>
              </a:pPr>
              <a:t>‹#›</a:t>
            </a:fld>
            <a:endParaRPr lang="sl-S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138677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138677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7F7F7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7F7F7F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7F7F7F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7F7F7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49C07FB-6FBD-40B4-A508-96B0329E64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772400" cy="793750"/>
          </a:xfrm>
        </p:spPr>
        <p:txBody>
          <a:bodyPr/>
          <a:lstStyle/>
          <a:p>
            <a:pPr algn="ctr"/>
            <a:r>
              <a:rPr lang="sl-SI" altLang="sl-SI" sz="3200" dirty="0"/>
              <a:t>Modeliranje PEV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37FA2-0EED-419A-9DA7-868FD4FDE1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E0D8A05-2311-4478-9187-FB0BE7C79342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4100" name="Slide Number Placeholder 4">
            <a:extLst>
              <a:ext uri="{FF2B5EF4-FFF2-40B4-BE49-F238E27FC236}">
                <a16:creationId xmlns:a16="http://schemas.microsoft.com/office/drawing/2014/main" id="{327CD741-1A06-426F-B6A2-3E3E4D3724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748713" y="6492875"/>
            <a:ext cx="482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1C21177-FF10-4E9F-8544-844756811731}" type="slidenum">
              <a:rPr lang="sl-SI" altLang="sl-SI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sl-SI" altLang="sl-SI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DD067-3C89-4381-96EF-03A13BC1760B}"/>
              </a:ext>
            </a:extLst>
          </p:cNvPr>
          <p:cNvSpPr/>
          <p:nvPr/>
        </p:nvSpPr>
        <p:spPr>
          <a:xfrm>
            <a:off x="7235825" y="188913"/>
            <a:ext cx="1657350" cy="719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l-SI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40C47123-902A-4FBD-9AA4-8D9AACE2F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260350"/>
            <a:ext cx="47212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AEEC34-9222-4B04-954C-34207AD4A10D}"/>
              </a:ext>
            </a:extLst>
          </p:cNvPr>
          <p:cNvSpPr/>
          <p:nvPr/>
        </p:nvSpPr>
        <p:spPr>
          <a:xfrm>
            <a:off x="8716963" y="836613"/>
            <a:ext cx="427037" cy="6021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l-SI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12A9B557-D1DD-41B6-8C48-C2430E269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t="14832" r="-17" b="19781"/>
          <a:stretch>
            <a:fillRect/>
          </a:stretch>
        </p:blipFill>
        <p:spPr bwMode="auto">
          <a:xfrm>
            <a:off x="-4763" y="2349500"/>
            <a:ext cx="914558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3F0642D7-7E16-42C8-866A-934FC07E1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23" b="64897"/>
          <a:stretch>
            <a:fillRect/>
          </a:stretch>
        </p:blipFill>
        <p:spPr bwMode="auto">
          <a:xfrm>
            <a:off x="3995738" y="5426075"/>
            <a:ext cx="1147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985E-7864-3150-3811-0E0A7638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Modeli PEV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4C4B-7B54-3FF3-8FF7-425C35A6E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r>
              <a:rPr lang="sl-SI" sz="2800" dirty="0"/>
              <a:t>uporablja se na donosu zasnovan način</a:t>
            </a:r>
          </a:p>
          <a:p>
            <a:r>
              <a:rPr lang="sl-SI" sz="2800" dirty="0"/>
              <a:t>za razliko od ostalih modelov se bodo vrednosti PEV izračunavale v sistemu ISAM izven evidence vrednotenja</a:t>
            </a:r>
          </a:p>
          <a:p>
            <a:r>
              <a:rPr lang="sl-SI" sz="2800" dirty="0"/>
              <a:t>delitev vrednosti PEV na njene sestavine se izvaja v EV, v prihodnje pa se bo tudi v orodju ISAM v okviru pripisa in testnega izračuna vrednosti (izven modula PEV)</a:t>
            </a:r>
          </a:p>
          <a:p>
            <a:endParaRPr lang="sl-SI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EB5C-F5E3-D7A2-56CB-2CA88718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EC415-67EB-A4E6-4CDC-F2F113BA0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7638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BEECD2-B14F-4322-8ACD-CFA2A56A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742950" indent="-7429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sl-SI" dirty="0">
                <a:solidFill>
                  <a:schemeClr val="accent6"/>
                </a:solidFill>
              </a:rPr>
              <a:t>Modeli PEV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D3BCF5B-0A9B-4A10-A834-BAAC46D984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952B84-E991-4989-B153-ADA648C017F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124" name="Označba mesta številke diapozitiva 4">
            <a:extLst>
              <a:ext uri="{FF2B5EF4-FFF2-40B4-BE49-F238E27FC236}">
                <a16:creationId xmlns:a16="http://schemas.microsoft.com/office/drawing/2014/main" id="{531BF5A1-BB09-40CF-8FDC-2D5EB7596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06248F-A3E4-41B2-A97B-2996F46FBE43}" type="slidenum">
              <a:rPr lang="sl-SI" altLang="sl-SI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sl-SI" altLang="sl-SI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45570-C793-39F2-CAE2-D32C06487104}"/>
              </a:ext>
            </a:extLst>
          </p:cNvPr>
          <p:cNvSpPr txBox="1"/>
          <p:nvPr/>
        </p:nvSpPr>
        <p:spPr>
          <a:xfrm>
            <a:off x="1258464" y="1620761"/>
            <a:ext cx="5997158" cy="58477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ctr"/>
            <a:r>
              <a:rPr lang="sl-SI" sz="3200" dirty="0">
                <a:solidFill>
                  <a:srgbClr val="7F7F7F"/>
                </a:solidFill>
              </a:rPr>
              <a:t>Modeli za 3 vrste PEV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ADEF3-DB9D-8FE7-85E7-D721BDCCBB6A}"/>
              </a:ext>
            </a:extLst>
          </p:cNvPr>
          <p:cNvSpPr txBox="1"/>
          <p:nvPr/>
        </p:nvSpPr>
        <p:spPr>
          <a:xfrm>
            <a:off x="909960" y="2587791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model za bencinske servise (PNB)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A7C04-F89D-67EE-2C09-1A9D95D2AD4F}"/>
              </a:ext>
            </a:extLst>
          </p:cNvPr>
          <p:cNvSpPr txBox="1"/>
          <p:nvPr/>
        </p:nvSpPr>
        <p:spPr>
          <a:xfrm>
            <a:off x="3146687" y="2599967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model za elektrarne (PNE)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D84CE-DF3C-EEC1-E39C-D927A950678C}"/>
              </a:ext>
            </a:extLst>
          </p:cNvPr>
          <p:cNvSpPr txBox="1"/>
          <p:nvPr/>
        </p:nvSpPr>
        <p:spPr>
          <a:xfrm>
            <a:off x="5383414" y="2599967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model za marine in pristanišča (PNP)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2B7AF2-0CBE-8954-21D0-9946805E4580}"/>
              </a:ext>
            </a:extLst>
          </p:cNvPr>
          <p:cNvSpPr txBox="1"/>
          <p:nvPr/>
        </p:nvSpPr>
        <p:spPr>
          <a:xfrm>
            <a:off x="1148057" y="3741224"/>
            <a:ext cx="152070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sz="1400" dirty="0"/>
              <a:t>1 podmodel</a:t>
            </a:r>
          </a:p>
          <a:p>
            <a:pPr algn="ctr"/>
            <a:r>
              <a:rPr lang="sl-SI" sz="1400" dirty="0"/>
              <a:t>2 vrednostni ravni</a:t>
            </a:r>
          </a:p>
          <a:p>
            <a:pPr algn="ctr"/>
            <a:r>
              <a:rPr lang="sl-SI" sz="1400" dirty="0"/>
              <a:t>3 tipi BS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06882-D31C-3B1D-A27F-3578BB724B79}"/>
              </a:ext>
            </a:extLst>
          </p:cNvPr>
          <p:cNvSpPr txBox="1"/>
          <p:nvPr/>
        </p:nvSpPr>
        <p:spPr>
          <a:xfrm>
            <a:off x="3384784" y="3741224"/>
            <a:ext cx="152070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sz="1400" dirty="0"/>
              <a:t>2 podmodela</a:t>
            </a:r>
          </a:p>
          <a:p>
            <a:pPr algn="ctr"/>
            <a:r>
              <a:rPr lang="sl-SI" sz="1400" dirty="0"/>
              <a:t>1 vrednostna raven</a:t>
            </a:r>
          </a:p>
          <a:p>
            <a:pPr algn="ctr"/>
            <a:r>
              <a:rPr lang="sl-SI" sz="1400" dirty="0"/>
              <a:t>10 tipov elektrarn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A864E-8DBB-F422-8FC2-A922A34F3348}"/>
              </a:ext>
            </a:extLst>
          </p:cNvPr>
          <p:cNvSpPr txBox="1"/>
          <p:nvPr/>
        </p:nvSpPr>
        <p:spPr>
          <a:xfrm>
            <a:off x="5621511" y="3747356"/>
            <a:ext cx="152070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sz="1400" dirty="0"/>
              <a:t>2 podmodela</a:t>
            </a:r>
          </a:p>
          <a:p>
            <a:pPr algn="ctr"/>
            <a:r>
              <a:rPr lang="sl-SI" sz="1400" dirty="0"/>
              <a:t>1 vrednostna raven</a:t>
            </a:r>
          </a:p>
          <a:p>
            <a:pPr algn="ctr"/>
            <a:r>
              <a:rPr lang="sl-SI" sz="1400" dirty="0"/>
              <a:t>2 vrsti pristanišč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B9FE1-7CBD-B0DE-9973-DE67020C593D}"/>
              </a:ext>
            </a:extLst>
          </p:cNvPr>
          <p:cNvSpPr txBox="1"/>
          <p:nvPr/>
        </p:nvSpPr>
        <p:spPr>
          <a:xfrm>
            <a:off x="792263" y="5067375"/>
            <a:ext cx="6705746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45720" rIns="0" bIns="45720" rtlCol="0" anchor="ctr">
            <a:spAutoFit/>
          </a:bodyPr>
          <a:lstStyle/>
          <a:p>
            <a:r>
              <a:rPr lang="sl-SI" dirty="0"/>
              <a:t>Orodje ISAM naj bo odprto za morebitno dodajanje novega modela PEV</a:t>
            </a:r>
          </a:p>
        </p:txBody>
      </p:sp>
    </p:spTree>
    <p:extLst>
      <p:ext uri="{BB962C8B-B14F-4D97-AF65-F5344CB8AC3E}">
        <p14:creationId xmlns:p14="http://schemas.microsoft.com/office/powerpoint/2010/main" val="199257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bencinske servise (PNB)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800" dirty="0"/>
              <a:t>3 tipi bencinskih servisov (BS):</a:t>
            </a:r>
          </a:p>
          <a:p>
            <a:pPr lvl="1"/>
            <a:r>
              <a:rPr lang="sl-SI" sz="2400" dirty="0"/>
              <a:t>avtomatski</a:t>
            </a:r>
          </a:p>
          <a:p>
            <a:pPr lvl="1"/>
            <a:r>
              <a:rPr lang="sl-SI" sz="2400" dirty="0"/>
              <a:t>s prodajalno</a:t>
            </a:r>
          </a:p>
          <a:p>
            <a:pPr lvl="1"/>
            <a:r>
              <a:rPr lang="sl-SI" sz="2400" dirty="0"/>
              <a:t>na AC in HC</a:t>
            </a:r>
          </a:p>
          <a:p>
            <a:r>
              <a:rPr lang="sl-SI" sz="2800" dirty="0"/>
              <a:t>2 vrednostni ravni (VR):</a:t>
            </a:r>
          </a:p>
          <a:p>
            <a:pPr lvl="1"/>
            <a:r>
              <a:rPr lang="sl-SI" sz="2400" dirty="0"/>
              <a:t>VR 1: območja izven večjih mest in izven avtocest in hitrih cest</a:t>
            </a:r>
          </a:p>
          <a:p>
            <a:pPr lvl="1"/>
            <a:r>
              <a:rPr lang="sl-SI" sz="2400" dirty="0"/>
              <a:t>VR 2: območja večjih mest z več kot 20.000 prebivalci ter območja na avtocestah in hitrih cestah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24812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bencinske servise (PNB)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800" dirty="0"/>
              <a:t>osnovno količino predstavlja povprečna letna količina prodanih motornih goriv v zadnjih 3 letih:</a:t>
            </a:r>
          </a:p>
          <a:p>
            <a:pPr lvl="1"/>
            <a:r>
              <a:rPr lang="sl-SI" sz="2400" dirty="0"/>
              <a:t>izračuna se netehtano povprečje,</a:t>
            </a:r>
          </a:p>
          <a:p>
            <a:pPr lvl="1"/>
            <a:r>
              <a:rPr lang="sl-SI" sz="2400" dirty="0"/>
              <a:t>ne upošteva se prvega leta obratovanja, če je prodaja v prvem letu obratovanja za več kot 30 % nižja kot v naslednjem letu,</a:t>
            </a:r>
          </a:p>
          <a:p>
            <a:pPr lvl="1"/>
            <a:r>
              <a:rPr lang="sl-SI" sz="2400" dirty="0"/>
              <a:t>kg zemeljskega plina se pretvori v litre s faktorjem 1,2</a:t>
            </a:r>
          </a:p>
          <a:p>
            <a:r>
              <a:rPr lang="sl-SI" sz="2800" dirty="0"/>
              <a:t>posplošena vrednost je vrednost neposredno iz vrednostne tabele glede na tip BS, VR in povprečno količino prodanih motornih goriv v litrih</a:t>
            </a:r>
          </a:p>
          <a:p>
            <a:pPr lvl="1"/>
            <a:endParaRPr lang="sl-SI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5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43862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23088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sl-SI" b="0" dirty="0"/>
              <a:t>Struktura modela za bencinske servise (PNB)</a:t>
            </a:r>
            <a:endParaRPr lang="sl-SI" b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450A99-0208-D609-2A9E-AFE5A0670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791045"/>
            <a:ext cx="8229600" cy="21442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84938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262867-AF6B-4C1A-91BF-67FA9C55FF85}" type="datetime1">
              <a:rPr lang="sl-SI" smtClean="0"/>
              <a:pPr>
                <a:spcAft>
                  <a:spcPts val="600"/>
                </a:spcAft>
                <a:defRPr/>
              </a:pPr>
              <a:t>10. 02. 2025</a:t>
            </a:fld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0150" y="6492875"/>
            <a:ext cx="323850" cy="365125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1436866-7FFB-4167-845B-ABDE039C6A34}" type="slidenum">
              <a:rPr lang="sl-SI" smtClean="0"/>
              <a:pPr>
                <a:spcAft>
                  <a:spcPts val="600"/>
                </a:spcAft>
                <a:defRPr/>
              </a:pPr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5952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elektrarne (PNE)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10 tipov elektrarn</a:t>
            </a:r>
          </a:p>
          <a:p>
            <a:r>
              <a:rPr lang="sl-SI" dirty="0"/>
              <a:t>le 1 vrednostna raven</a:t>
            </a:r>
          </a:p>
          <a:p>
            <a:r>
              <a:rPr lang="sl-SI" dirty="0" err="1"/>
              <a:t>podmodeli</a:t>
            </a:r>
            <a:r>
              <a:rPr lang="sl-SI" dirty="0"/>
              <a:t> PNE:</a:t>
            </a:r>
          </a:p>
          <a:p>
            <a:pPr lvl="1"/>
            <a:r>
              <a:rPr lang="sl-SI" dirty="0"/>
              <a:t>za sistemske elektrarne (1 tip – električna moč)</a:t>
            </a:r>
          </a:p>
          <a:p>
            <a:pPr lvl="1"/>
            <a:r>
              <a:rPr lang="sl-SI" dirty="0"/>
              <a:t>za nesistemske elektrarne (proizvodnja elektrike):</a:t>
            </a:r>
          </a:p>
          <a:p>
            <a:pPr lvl="2"/>
            <a:r>
              <a:rPr lang="sl-SI" dirty="0"/>
              <a:t>za HE (1 tip – brez faktorja preostale življenjske dobe)</a:t>
            </a:r>
          </a:p>
          <a:p>
            <a:pPr lvl="2"/>
            <a:r>
              <a:rPr lang="sl-SI" dirty="0"/>
              <a:t>za ostale nesistemske elektrarne (8 tipov – s faktorjem preostale ŽD)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7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197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elektrarne (PNE)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sl-SI" sz="2800" dirty="0"/>
              <a:t>osnovno količino predstavlja:</a:t>
            </a:r>
          </a:p>
          <a:p>
            <a:pPr lvl="1"/>
            <a:r>
              <a:rPr lang="sl-SI" sz="2400" dirty="0"/>
              <a:t>električna moč v zadnjem letu ali</a:t>
            </a:r>
          </a:p>
          <a:p>
            <a:pPr lvl="1"/>
            <a:r>
              <a:rPr lang="sl-SI" sz="2400" dirty="0"/>
              <a:t>povprečna letna prilagojena proizvodnja električne energije v zadnjih 5 letih:</a:t>
            </a:r>
          </a:p>
          <a:p>
            <a:pPr marL="57150" indent="0">
              <a:buNone/>
            </a:pPr>
            <a:endParaRPr lang="sl-SI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8</a:t>
            </a:fld>
            <a:endParaRPr lang="sl-SI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0B3A0D-68B8-2A28-FE57-098361E2D433}"/>
              </a:ext>
            </a:extLst>
          </p:cNvPr>
          <p:cNvGrpSpPr/>
          <p:nvPr/>
        </p:nvGrpSpPr>
        <p:grpSpPr>
          <a:xfrm>
            <a:off x="2123728" y="3241892"/>
            <a:ext cx="4032448" cy="3530610"/>
            <a:chOff x="2123728" y="3241892"/>
            <a:chExt cx="4032448" cy="3530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7C83210-6E44-23FA-1345-004778082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771"/>
            <a:stretch/>
          </p:blipFill>
          <p:spPr>
            <a:xfrm>
              <a:off x="2123728" y="3241892"/>
              <a:ext cx="4032448" cy="3530610"/>
            </a:xfrm>
            <a:prstGeom prst="rect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1C66E9-748D-643C-466D-DCBD4F6757EB}"/>
                </a:ext>
              </a:extLst>
            </p:cNvPr>
            <p:cNvSpPr/>
            <p:nvPr/>
          </p:nvSpPr>
          <p:spPr>
            <a:xfrm>
              <a:off x="2267744" y="4149080"/>
              <a:ext cx="311150" cy="2160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/>
            </a:p>
          </p:txBody>
        </p:sp>
      </p:grpSp>
    </p:spTree>
    <p:extLst>
      <p:ext uri="{BB962C8B-B14F-4D97-AF65-F5344CB8AC3E}">
        <p14:creationId xmlns:p14="http://schemas.microsoft.com/office/powerpoint/2010/main" val="239742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23088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sl-SI" b="0" dirty="0"/>
              <a:t>Struktura modela za elektrarne (PNE)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84938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262867-AF6B-4C1A-91BF-67FA9C55FF85}" type="datetime1">
              <a:rPr lang="sl-SI" smtClean="0"/>
              <a:pPr>
                <a:spcAft>
                  <a:spcPts val="600"/>
                </a:spcAft>
                <a:defRPr/>
              </a:pPr>
              <a:t>10. 02. 2025</a:t>
            </a:fld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0150" y="6492875"/>
            <a:ext cx="323850" cy="365125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1436866-7FFB-4167-845B-ABDE039C6A34}" type="slidenum">
              <a:rPr lang="sl-SI" smtClean="0"/>
              <a:pPr>
                <a:spcAft>
                  <a:spcPts val="600"/>
                </a:spcAft>
                <a:defRPr/>
              </a:pPr>
              <a:t>9</a:t>
            </a:fld>
            <a:endParaRPr lang="sl-SI"/>
          </a:p>
        </p:txBody>
      </p:sp>
      <p:pic>
        <p:nvPicPr>
          <p:cNvPr id="19" name="Content Placeholder 27">
            <a:extLst>
              <a:ext uri="{FF2B5EF4-FFF2-40B4-BE49-F238E27FC236}">
                <a16:creationId xmlns:a16="http://schemas.microsoft.com/office/drawing/2014/main" id="{C58D5443-0F2E-2BDE-D7DE-9312EE5358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4" b="26354"/>
          <a:stretch/>
        </p:blipFill>
        <p:spPr bwMode="auto">
          <a:xfrm>
            <a:off x="457200" y="3933056"/>
            <a:ext cx="822960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AFFD7A7-135F-CBF2-89E8-9945E9DB1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b="11685"/>
          <a:stretch/>
        </p:blipFill>
        <p:spPr>
          <a:xfrm>
            <a:off x="431800" y="1658137"/>
            <a:ext cx="7704856" cy="197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4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elektrarne (PNE)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faktor preostale ŽD za 9 od 10 tipov elektrarn</a:t>
            </a:r>
          </a:p>
          <a:p>
            <a:pPr lvl="1"/>
            <a:r>
              <a:rPr lang="sl-SI" dirty="0"/>
              <a:t>izračun faktorja za posamezne bloke sistemskih elektrarn in nato iz faktorjev blokov izpeljava za celotno elektrarno</a:t>
            </a:r>
          </a:p>
          <a:p>
            <a:pPr lvl="1"/>
            <a:r>
              <a:rPr lang="sl-SI" dirty="0"/>
              <a:t>izračun faktorja neposredno za celotno elektrarno za nesistemske elektrarne</a:t>
            </a:r>
          </a:p>
          <a:p>
            <a:pPr lvl="1"/>
            <a:r>
              <a:rPr lang="sl-SI" dirty="0"/>
              <a:t>hidroelektrarnam (HE) se ne izračunava faktor preostale ŽD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10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21767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23088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sl-SI" b="0" dirty="0"/>
              <a:t>Struktura modela za elektrarne (PNE)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1F1DA0-FD63-C0C9-0FEE-289DF7F3D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17421"/>
          <a:stretch/>
        </p:blipFill>
        <p:spPr>
          <a:xfrm>
            <a:off x="457200" y="1556792"/>
            <a:ext cx="8229600" cy="1700743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84938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262867-AF6B-4C1A-91BF-67FA9C55FF85}" type="datetime1">
              <a:rPr lang="sl-SI" smtClean="0"/>
              <a:pPr>
                <a:spcAft>
                  <a:spcPts val="600"/>
                </a:spcAft>
                <a:defRPr/>
              </a:pPr>
              <a:t>10. 02. 2025</a:t>
            </a:fld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0150" y="6492875"/>
            <a:ext cx="323850" cy="365125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1436866-7FFB-4167-845B-ABDE039C6A34}" type="slidenum">
              <a:rPr lang="sl-SI" smtClean="0"/>
              <a:pPr>
                <a:spcAft>
                  <a:spcPts val="600"/>
                </a:spcAft>
                <a:defRPr/>
              </a:pPr>
              <a:t>11</a:t>
            </a:fld>
            <a:endParaRPr lang="sl-SI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2F1DE1E-C9B2-B3A3-23A6-5E29184E2A15}"/>
              </a:ext>
            </a:extLst>
          </p:cNvPr>
          <p:cNvSpPr txBox="1">
            <a:spLocks/>
          </p:cNvSpPr>
          <p:nvPr/>
        </p:nvSpPr>
        <p:spPr bwMode="auto">
          <a:xfrm>
            <a:off x="457200" y="3501008"/>
            <a:ext cx="8229600" cy="262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sl-SI" sz="2800" dirty="0"/>
              <a:t>hidroelektrarne: posplošena vrednost se odčita neposredno iz vrednostne tabele</a:t>
            </a:r>
          </a:p>
          <a:p>
            <a:pPr eaLnBrk="1" hangingPunct="1"/>
            <a:r>
              <a:rPr lang="sl-SI" sz="2800" dirty="0"/>
              <a:t>drugi tipi elektrarn:</a:t>
            </a:r>
          </a:p>
          <a:p>
            <a:pPr lvl="1" eaLnBrk="1" hangingPunct="1"/>
            <a:r>
              <a:rPr lang="sl-SI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 =</a:t>
            </a:r>
            <a:r>
              <a:rPr lang="sl-S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sl-S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×</a:t>
            </a:r>
            <a:r>
              <a:rPr lang="sl-SI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400" b="1" dirty="0">
                <a:solidFill>
                  <a:srgbClr val="E36C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sl-SI" sz="2400" b="1" baseline="-25000" dirty="0">
                <a:solidFill>
                  <a:srgbClr val="E36C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 </a:t>
            </a:r>
            <a:r>
              <a:rPr lang="sl-SI" sz="2400" dirty="0"/>
              <a:t>, kjer je </a:t>
            </a:r>
            <a:r>
              <a:rPr lang="sl-SI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sl-SI" sz="2400" dirty="0"/>
              <a:t> posplošena vrednost, </a:t>
            </a:r>
            <a:r>
              <a:rPr lang="sl-SI" sz="24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sl-SI" sz="2400" dirty="0"/>
              <a:t> vrednost iz vrednostne tabele in </a:t>
            </a:r>
            <a:r>
              <a:rPr lang="sl-SI" sz="2400" b="1" dirty="0">
                <a:solidFill>
                  <a:srgbClr val="E36C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sl-SI" sz="2400" b="1" baseline="-25000" dirty="0">
                <a:solidFill>
                  <a:srgbClr val="E36C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</a:t>
            </a:r>
            <a:r>
              <a:rPr lang="sl-SI" sz="2400" dirty="0"/>
              <a:t> faktor preostale ŽD</a:t>
            </a:r>
          </a:p>
        </p:txBody>
      </p:sp>
    </p:spTree>
    <p:extLst>
      <p:ext uri="{BB962C8B-B14F-4D97-AF65-F5344CB8AC3E}">
        <p14:creationId xmlns:p14="http://schemas.microsoft.com/office/powerpoint/2010/main" val="162983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marine in pristanišča (PNP)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2 vrsti pristanišč:</a:t>
            </a:r>
          </a:p>
          <a:p>
            <a:pPr lvl="1"/>
            <a:r>
              <a:rPr lang="sl-SI" dirty="0"/>
              <a:t>marine (turistična pristanišča – 4 marine)</a:t>
            </a:r>
          </a:p>
          <a:p>
            <a:pPr lvl="1"/>
            <a:r>
              <a:rPr lang="sl-SI" dirty="0"/>
              <a:t>pristanišča, namenjena za javni promet (1 pristanišče </a:t>
            </a:r>
            <a:r>
              <a:rPr lang="sl-SI" dirty="0" err="1"/>
              <a:t>Pristanišče</a:t>
            </a:r>
            <a:r>
              <a:rPr lang="sl-SI" dirty="0"/>
              <a:t> Koper)</a:t>
            </a:r>
          </a:p>
          <a:p>
            <a:r>
              <a:rPr lang="sl-SI" dirty="0"/>
              <a:t>le 1 vrednostna raven</a:t>
            </a:r>
          </a:p>
          <a:p>
            <a:r>
              <a:rPr lang="sl-SI" dirty="0"/>
              <a:t>podmodela PNP:</a:t>
            </a:r>
          </a:p>
          <a:p>
            <a:pPr lvl="1"/>
            <a:r>
              <a:rPr lang="sl-SI" dirty="0"/>
              <a:t>za marine: število privezov in namestitev</a:t>
            </a:r>
          </a:p>
          <a:p>
            <a:pPr lvl="1"/>
            <a:r>
              <a:rPr lang="sl-SI" dirty="0"/>
              <a:t>za pristanišča: prihodki in stroški iz pristaniške dejavnosti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712250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marine in pristanišča (PNP)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osnovno količino predstavljajo:</a:t>
            </a:r>
          </a:p>
          <a:p>
            <a:pPr lvl="1"/>
            <a:r>
              <a:rPr lang="sl-SI" dirty="0"/>
              <a:t>marine:</a:t>
            </a:r>
          </a:p>
          <a:p>
            <a:pPr lvl="2"/>
            <a:r>
              <a:rPr lang="sl-SI" dirty="0"/>
              <a:t>število privezov v vodi,</a:t>
            </a:r>
          </a:p>
          <a:p>
            <a:pPr lvl="2"/>
            <a:r>
              <a:rPr lang="sl-SI" dirty="0"/>
              <a:t>število namestitev plovil na suhem</a:t>
            </a:r>
          </a:p>
          <a:p>
            <a:pPr lvl="2"/>
            <a:r>
              <a:rPr lang="sl-SI" dirty="0"/>
              <a:t>število namestitev plovil v hangarju</a:t>
            </a:r>
          </a:p>
          <a:p>
            <a:pPr lvl="1"/>
            <a:r>
              <a:rPr lang="sl-SI" dirty="0"/>
              <a:t>pristanišča, namenjena za javni promet: prilagojen letni donos iz poslovanja (utežen in z inflacijo korigiran povprečen donos zadnjih 5 let)</a:t>
            </a:r>
          </a:p>
          <a:p>
            <a:pPr lvl="2"/>
            <a:endParaRPr lang="sl-S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13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4064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Struktura modela za marine in pristanišča (PNP)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7573-D7EB-D70E-28B0-D6C7DD22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posplošena vrednost PEV po modelu PNP je:</a:t>
            </a:r>
          </a:p>
          <a:p>
            <a:pPr lvl="1"/>
            <a:r>
              <a:rPr lang="sl-SI" dirty="0"/>
              <a:t>za marine vsota vrednosti iz vrednostne tabele za vse tri vrste privezov in namestitev glede na njihovo število v marini</a:t>
            </a:r>
          </a:p>
          <a:p>
            <a:pPr lvl="1"/>
            <a:r>
              <a:rPr lang="sl-SI" dirty="0"/>
              <a:t>za pristanišča odčitana neposredno iz vrednostne tabele glede na prilagojeni letni donos iz poslovanja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5289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536-2E46-DB30-56BD-94A22F21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23088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sl-SI" b="0" dirty="0"/>
              <a:t>Struktura modela za marine in pristanišča (PNP)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3330CE9-ABAB-D6DA-7B3F-87216C00E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2638"/>
          <a:stretch/>
        </p:blipFill>
        <p:spPr>
          <a:xfrm>
            <a:off x="457200" y="1588238"/>
            <a:ext cx="8229600" cy="2488834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287F-A1B1-16DF-58F4-436F50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84938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262867-AF6B-4C1A-91BF-67FA9C55FF85}" type="datetime1">
              <a:rPr lang="sl-SI" smtClean="0"/>
              <a:pPr>
                <a:spcAft>
                  <a:spcPts val="600"/>
                </a:spcAft>
                <a:defRPr/>
              </a:pPr>
              <a:t>10. 02. 2025</a:t>
            </a:fld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A35D4-3154-BA97-84C3-56FF81DD94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0150" y="6492875"/>
            <a:ext cx="323850" cy="365125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1436866-7FFB-4167-845B-ABDE039C6A34}" type="slidenum">
              <a:rPr lang="sl-SI" smtClean="0"/>
              <a:pPr>
                <a:spcAft>
                  <a:spcPts val="600"/>
                </a:spcAft>
                <a:defRPr/>
              </a:pPr>
              <a:t>15</a:t>
            </a:fld>
            <a:endParaRPr lang="sl-SI"/>
          </a:p>
        </p:txBody>
      </p:sp>
      <p:pic>
        <p:nvPicPr>
          <p:cNvPr id="15" name="Content Placeholder 8">
            <a:extLst>
              <a:ext uri="{FF2B5EF4-FFF2-40B4-BE49-F238E27FC236}">
                <a16:creationId xmlns:a16="http://schemas.microsoft.com/office/drawing/2014/main" id="{02FAE880-01AE-D6DE-073F-4C150E4563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397"/>
          <a:stretch/>
        </p:blipFill>
        <p:spPr bwMode="auto">
          <a:xfrm>
            <a:off x="457200" y="4361868"/>
            <a:ext cx="8229600" cy="2123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799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BEECD2-B14F-4322-8ACD-CFA2A56A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742950" indent="-742950" fontAlgn="auto">
              <a:spcAft>
                <a:spcPts val="0"/>
              </a:spcAft>
              <a:buFont typeface="+mj-lt"/>
              <a:buAutoNum type="arabicPeriod" startAt="2"/>
              <a:defRPr/>
            </a:pPr>
            <a:r>
              <a:rPr lang="sl-SI" dirty="0">
                <a:solidFill>
                  <a:schemeClr val="accent6"/>
                </a:solidFill>
              </a:rPr>
              <a:t>Vodenje modelov PEV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D3BCF5B-0A9B-4A10-A834-BAAC46D984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952B84-E991-4989-B153-ADA648C017F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124" name="Označba mesta številke diapozitiva 4">
            <a:extLst>
              <a:ext uri="{FF2B5EF4-FFF2-40B4-BE49-F238E27FC236}">
                <a16:creationId xmlns:a16="http://schemas.microsoft.com/office/drawing/2014/main" id="{531BF5A1-BB09-40CF-8FDC-2D5EB7596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06248F-A3E4-41B2-A97B-2996F46FBE43}" type="slidenum">
              <a:rPr lang="sl-SI" altLang="sl-SI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sl-SI" altLang="sl-SI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ADEF3-DB9D-8FE7-85E7-D721BDCCBB6A}"/>
              </a:ext>
            </a:extLst>
          </p:cNvPr>
          <p:cNvSpPr txBox="1"/>
          <p:nvPr/>
        </p:nvSpPr>
        <p:spPr>
          <a:xfrm>
            <a:off x="732127" y="2029052"/>
            <a:ext cx="2736304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sz="2000" b="1" dirty="0"/>
              <a:t>vodenje verzij modelov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A7C04-F89D-67EE-2C09-1A9D95D2AD4F}"/>
              </a:ext>
            </a:extLst>
          </p:cNvPr>
          <p:cNvSpPr txBox="1"/>
          <p:nvPr/>
        </p:nvSpPr>
        <p:spPr>
          <a:xfrm>
            <a:off x="1043608" y="3173119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določitev osnovnih parametrov verzije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D84CE-DF3C-EEC1-E39C-D927A950678C}"/>
              </a:ext>
            </a:extLst>
          </p:cNvPr>
          <p:cNvSpPr txBox="1"/>
          <p:nvPr/>
        </p:nvSpPr>
        <p:spPr>
          <a:xfrm>
            <a:off x="5653532" y="3148369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določitev in izračun količinskih razredov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73155-FA36-EE03-EAB6-4C62D7FD65C4}"/>
              </a:ext>
            </a:extLst>
          </p:cNvPr>
          <p:cNvSpPr txBox="1"/>
          <p:nvPr/>
        </p:nvSpPr>
        <p:spPr>
          <a:xfrm>
            <a:off x="3348570" y="3036321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določitev vrednostnih razredov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00687-9BC3-3C0C-2330-A132B0849FDC}"/>
              </a:ext>
            </a:extLst>
          </p:cNvPr>
          <p:cNvSpPr txBox="1"/>
          <p:nvPr/>
        </p:nvSpPr>
        <p:spPr>
          <a:xfrm>
            <a:off x="1043608" y="4195022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določitev parametrov enačb in faktorjev modelov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A8CAFE-6F02-5B00-0035-13F1BD18F842}"/>
              </a:ext>
            </a:extLst>
          </p:cNvPr>
          <p:cNvSpPr txBox="1"/>
          <p:nvPr/>
        </p:nvSpPr>
        <p:spPr>
          <a:xfrm>
            <a:off x="3348570" y="4369772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izračun vrednostnih tabel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8E6EDF-86C1-3096-29EE-D606F98EB9A0}"/>
              </a:ext>
            </a:extLst>
          </p:cNvPr>
          <p:cNvSpPr txBox="1"/>
          <p:nvPr/>
        </p:nvSpPr>
        <p:spPr>
          <a:xfrm>
            <a:off x="5618764" y="4217169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izračun faktorjev preostale življenjske dobe za elektrarne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F78C8-ED7C-EFB7-9EAC-C9DFAA1E40C5}"/>
              </a:ext>
            </a:extLst>
          </p:cNvPr>
          <p:cNvSpPr txBox="1"/>
          <p:nvPr/>
        </p:nvSpPr>
        <p:spPr>
          <a:xfrm>
            <a:off x="3923928" y="2001034"/>
            <a:ext cx="3888432" cy="7078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sz="2000" b="1" dirty="0"/>
              <a:t>v ozadju modelov so preddefinirani enačbe, faktorji in pripisna pravila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AFFCF-DF5A-DE67-325E-3491EE151E94}"/>
              </a:ext>
            </a:extLst>
          </p:cNvPr>
          <p:cNvSpPr txBox="1"/>
          <p:nvPr/>
        </p:nvSpPr>
        <p:spPr>
          <a:xfrm>
            <a:off x="1058975" y="5493924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vodenje vrednostnih ravni in con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826B3C-C451-B878-6B94-8D96D0E792AF}"/>
              </a:ext>
            </a:extLst>
          </p:cNvPr>
          <p:cNvSpPr txBox="1"/>
          <p:nvPr/>
        </p:nvSpPr>
        <p:spPr>
          <a:xfrm>
            <a:off x="3275856" y="5489502"/>
            <a:ext cx="2160240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pravila zaokroževanja izračunanih vrednosti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3A6D4-BAD2-EA1C-AF83-DFC388D2E8AC}"/>
              </a:ext>
            </a:extLst>
          </p:cNvPr>
          <p:cNvSpPr txBox="1"/>
          <p:nvPr/>
        </p:nvSpPr>
        <p:spPr>
          <a:xfrm>
            <a:off x="5618764" y="5489502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lastnosti referenčnih PEV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0EEE-F6C8-FCE7-7EC3-DAD2A6A769AB}"/>
              </a:ext>
            </a:extLst>
          </p:cNvPr>
          <p:cNvSpPr txBox="1"/>
          <p:nvPr/>
        </p:nvSpPr>
        <p:spPr>
          <a:xfrm>
            <a:off x="891287" y="2437054"/>
            <a:ext cx="2301539" cy="523220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sz="1400" dirty="0"/>
              <a:t>omogočeno je kopiranje verzij modelov</a:t>
            </a:r>
          </a:p>
        </p:txBody>
      </p:sp>
    </p:spTree>
    <p:extLst>
      <p:ext uri="{BB962C8B-B14F-4D97-AF65-F5344CB8AC3E}">
        <p14:creationId xmlns:p14="http://schemas.microsoft.com/office/powerpoint/2010/main" val="324684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10E5-F053-21D1-4FD4-C463FCA8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Vodenje verzij modelov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9D0F-266F-E05C-722D-E1D8FDFB1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/>
          <a:p>
            <a:r>
              <a:rPr lang="sl-SI" dirty="0"/>
              <a:t>vsaka verzija definira paket osnovnih parametrov modela</a:t>
            </a:r>
          </a:p>
          <a:p>
            <a:r>
              <a:rPr lang="sl-SI" dirty="0"/>
              <a:t>vsaka verzija shranjuje celoten potek izvajanja modela vključno z rezultati v obliki vrednosti PEV in podatki za izračun vrednosti</a:t>
            </a:r>
          </a:p>
          <a:p>
            <a:r>
              <a:rPr lang="sl-SI" dirty="0"/>
              <a:t>v okviru verzij modelov se vodijo tudi vrednostne ravni in cone modelov</a:t>
            </a:r>
          </a:p>
          <a:p>
            <a:r>
              <a:rPr lang="sl-SI" dirty="0"/>
              <a:t>omogočeno kopiranje verzij modelov</a:t>
            </a:r>
          </a:p>
          <a:p>
            <a:r>
              <a:rPr lang="sl-SI" dirty="0"/>
              <a:t>omogočeno zaklepanje verzij modelov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26C9-4982-27F3-D5FC-C9F338F4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94EF7-E5D6-4CCD-6AE9-BBC18CDE0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17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84309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10E5-F053-21D1-4FD4-C463FCA8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Vodenje verzij modelov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26C9-4982-27F3-D5FC-C9F338F4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94EF7-E5D6-4CCD-6AE9-BBC18CDE0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18</a:t>
            </a:fld>
            <a:endParaRPr lang="sl-SI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DD96295-D4E6-784C-1709-DD8E4A555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19" y="2252484"/>
            <a:ext cx="8390347" cy="1752580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642153-65AA-A155-FE9B-C59A556D988E}"/>
              </a:ext>
            </a:extLst>
          </p:cNvPr>
          <p:cNvSpPr txBox="1"/>
          <p:nvPr/>
        </p:nvSpPr>
        <p:spPr>
          <a:xfrm>
            <a:off x="323528" y="1763524"/>
            <a:ext cx="3610744" cy="369332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r>
              <a:rPr lang="sl-SI" dirty="0">
                <a:solidFill>
                  <a:srgbClr val="7F7F7F"/>
                </a:solidFill>
              </a:rPr>
              <a:t>Primer prikaza v sistemu GV</a:t>
            </a:r>
          </a:p>
        </p:txBody>
      </p:sp>
    </p:spTree>
    <p:extLst>
      <p:ext uri="{BB962C8B-B14F-4D97-AF65-F5344CB8AC3E}">
        <p14:creationId xmlns:p14="http://schemas.microsoft.com/office/powerpoint/2010/main" val="688152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10E5-F053-21D1-4FD4-C463FCA8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parametrov, enačb in faktorjev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9D0F-266F-E05C-722D-E1D8FDFB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800" dirty="0"/>
              <a:t>parametri, enačbe in faktorji so specifični za posamezen model PEV</a:t>
            </a:r>
          </a:p>
          <a:p>
            <a:r>
              <a:rPr lang="sl-SI" sz="2800" dirty="0"/>
              <a:t>parametri zajemajo:</a:t>
            </a:r>
          </a:p>
          <a:p>
            <a:pPr lvl="1"/>
            <a:r>
              <a:rPr lang="sl-SI" sz="2400" dirty="0"/>
              <a:t>stopnje inflacije</a:t>
            </a:r>
          </a:p>
          <a:p>
            <a:pPr lvl="1"/>
            <a:r>
              <a:rPr lang="sl-SI" sz="2400" dirty="0"/>
              <a:t>parametre zaokroževanja</a:t>
            </a:r>
          </a:p>
          <a:p>
            <a:pPr lvl="1"/>
            <a:r>
              <a:rPr lang="sl-SI" sz="2400" dirty="0"/>
              <a:t>faktorje preračunov (npr. iz kg v litre)</a:t>
            </a:r>
          </a:p>
          <a:p>
            <a:pPr lvl="1"/>
            <a:r>
              <a:rPr lang="sl-SI" sz="2400" dirty="0"/>
              <a:t>minimalne letne obratovalne ure</a:t>
            </a:r>
          </a:p>
          <a:p>
            <a:pPr lvl="1"/>
            <a:r>
              <a:rPr lang="sl-SI" sz="2400" dirty="0"/>
              <a:t>faktorje upoštevanja soproizvodnje toplote</a:t>
            </a:r>
          </a:p>
          <a:p>
            <a:pPr lvl="1"/>
            <a:r>
              <a:rPr lang="sl-SI" sz="2400" dirty="0"/>
              <a:t>druge parametre, specifične posameznemu vrednostnemu razredu</a:t>
            </a:r>
          </a:p>
          <a:p>
            <a:pPr lvl="1"/>
            <a:endParaRPr lang="sl-SI" sz="2400" dirty="0"/>
          </a:p>
          <a:p>
            <a:pPr lvl="1"/>
            <a:endParaRPr lang="sl-SI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26C9-4982-27F3-D5FC-C9F338F4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94EF7-E5D6-4CCD-6AE9-BBC18CDE0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19</a:t>
            </a:fld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46EDB6-A269-3205-2BB7-7B3EA903D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616" y="2348880"/>
            <a:ext cx="2952328" cy="148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7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10E5-F053-21D1-4FD4-C463FCA8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parametrov, enačb in faktorjev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9D0F-266F-E05C-722D-E1D8FDFB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enačbe zajemajo:</a:t>
            </a:r>
          </a:p>
          <a:p>
            <a:pPr lvl="1"/>
            <a:r>
              <a:rPr lang="sl-SI" dirty="0"/>
              <a:t>pravila in način vključitve vhodnih podatkov PEV, ki vstopajo v izračun vrednosti</a:t>
            </a:r>
          </a:p>
          <a:p>
            <a:pPr lvl="1"/>
            <a:r>
              <a:rPr lang="sl-SI" dirty="0"/>
              <a:t>načine izračuna količin</a:t>
            </a:r>
          </a:p>
          <a:p>
            <a:pPr lvl="1"/>
            <a:r>
              <a:rPr lang="sl-SI" dirty="0"/>
              <a:t>načine izračuna vrednostnih tabel</a:t>
            </a:r>
          </a:p>
          <a:p>
            <a:pPr lvl="1"/>
            <a:r>
              <a:rPr lang="sl-SI" dirty="0"/>
              <a:t>načine izračuna faktorjev preostale ŽD</a:t>
            </a:r>
          </a:p>
          <a:p>
            <a:pPr lvl="1"/>
            <a:endParaRPr lang="sl-S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826C9-4982-27F3-D5FC-C9F338F4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94EF7-E5D6-4CCD-6AE9-BBC18CDE0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20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675063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7C0B-B71D-4BFE-64D2-6A5F69D5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Vodenje vrednostnih ravni in 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9FF7-1D3E-84C5-05D7-EDA8D1F1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vsaka vrednostna cona ima pripisano eno vrednostno raven</a:t>
            </a:r>
          </a:p>
          <a:p>
            <a:r>
              <a:rPr lang="sl-SI" dirty="0"/>
              <a:t>vrednostne ravni so definirane znotraj verzije modela</a:t>
            </a:r>
          </a:p>
          <a:p>
            <a:r>
              <a:rPr lang="sl-SI" dirty="0"/>
              <a:t>vsaka vrednostna raven ima svojo vrednostno tabelo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669A4-4B72-AB15-32E3-BB4064EE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A9868-271B-9165-229F-39320D0D76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21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45295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14E2-D544-ADE9-5BFD-E51349E6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vrednostnih razredov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907E-F339-BCE2-90C1-F942C6CD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vrednostni razredi so kombinacije vrednostnih ravni, tipov/vrst PEV in vrst produktov za izračun</a:t>
            </a:r>
          </a:p>
          <a:p>
            <a:r>
              <a:rPr lang="sl-SI" dirty="0"/>
              <a:t>vsak tip PEV ima za vsako VR svoj vrednostni razred</a:t>
            </a:r>
          </a:p>
          <a:p>
            <a:r>
              <a:rPr lang="sl-SI" dirty="0"/>
              <a:t>vsak vrednostni razred ima specifične parametre za izračun vrednosti vrednostne tabele in faktorjev preostale ŽD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E61D-DD35-4688-670D-296EB2F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24C3-543F-9302-9F2B-2DB7B646F7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425983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14E2-D544-ADE9-5BFD-E51349E6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vrednostnih razredov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9907E-F339-BCE2-90C1-F942C6CD6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892675"/>
          </a:xfrm>
        </p:spPr>
        <p:txBody>
          <a:bodyPr/>
          <a:lstStyle/>
          <a:p>
            <a:r>
              <a:rPr lang="sl-SI" sz="2400" dirty="0"/>
              <a:t>model PNB:</a:t>
            </a:r>
          </a:p>
          <a:p>
            <a:pPr lvl="1"/>
            <a:r>
              <a:rPr lang="sl-SI" sz="2000" dirty="0"/>
              <a:t>3 tipi BS</a:t>
            </a:r>
          </a:p>
          <a:p>
            <a:pPr lvl="1"/>
            <a:r>
              <a:rPr lang="sl-SI" sz="2000" dirty="0"/>
              <a:t>2 VR</a:t>
            </a:r>
          </a:p>
          <a:p>
            <a:pPr lvl="1"/>
            <a:r>
              <a:rPr lang="sl-SI" sz="2000" dirty="0"/>
              <a:t>1 skupen produkt za izračun</a:t>
            </a:r>
          </a:p>
          <a:p>
            <a:r>
              <a:rPr lang="sl-SI" sz="2400" dirty="0"/>
              <a:t>model PNE:</a:t>
            </a:r>
          </a:p>
          <a:p>
            <a:pPr lvl="1"/>
            <a:r>
              <a:rPr lang="sl-SI" sz="2000" dirty="0"/>
              <a:t>10 tipov elektrarn</a:t>
            </a:r>
          </a:p>
          <a:p>
            <a:pPr lvl="1"/>
            <a:r>
              <a:rPr lang="sl-SI" sz="2000" dirty="0"/>
              <a:t>1 VR</a:t>
            </a:r>
          </a:p>
          <a:p>
            <a:pPr lvl="1"/>
            <a:r>
              <a:rPr lang="sl-SI" sz="2000" dirty="0"/>
              <a:t>1 produkt za izračun</a:t>
            </a:r>
          </a:p>
          <a:p>
            <a:r>
              <a:rPr lang="sl-SI" sz="2400" dirty="0"/>
              <a:t>model PNP</a:t>
            </a:r>
          </a:p>
          <a:p>
            <a:pPr lvl="1"/>
            <a:r>
              <a:rPr lang="sl-SI" sz="2000" dirty="0"/>
              <a:t>2 vrsti pristanišč</a:t>
            </a:r>
          </a:p>
          <a:p>
            <a:pPr lvl="1"/>
            <a:r>
              <a:rPr lang="sl-SI" sz="2000" dirty="0"/>
              <a:t>1 VR</a:t>
            </a:r>
          </a:p>
          <a:p>
            <a:pPr lvl="1"/>
            <a:r>
              <a:rPr lang="sl-SI" sz="2000" dirty="0"/>
              <a:t>3 produkti pri marinah in 1 pri pristanišču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E61D-DD35-4688-670D-296EB2F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24C3-543F-9302-9F2B-2DB7B646F7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23</a:t>
            </a:fld>
            <a:endParaRPr lang="sl-SI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2A959-6120-987C-65BF-D18E02EFD170}"/>
              </a:ext>
            </a:extLst>
          </p:cNvPr>
          <p:cNvSpPr txBox="1"/>
          <p:nvPr/>
        </p:nvSpPr>
        <p:spPr>
          <a:xfrm>
            <a:off x="4283968" y="1889537"/>
            <a:ext cx="4176464" cy="1323439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r>
              <a:rPr lang="sl-SI" sz="8000" dirty="0">
                <a:solidFill>
                  <a:srgbClr val="7F7F7F"/>
                </a:solidFill>
                <a:latin typeface="+mn-lt"/>
              </a:rPr>
              <a:t>} </a:t>
            </a:r>
            <a:r>
              <a:rPr lang="sl-SI" sz="2800" dirty="0">
                <a:solidFill>
                  <a:srgbClr val="7F7F7F"/>
                </a:solidFill>
                <a:latin typeface="+mn-lt"/>
              </a:rPr>
              <a:t>6 vrednostnih razredov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8E773-0E31-F924-0760-4D45AC83888E}"/>
              </a:ext>
            </a:extLst>
          </p:cNvPr>
          <p:cNvSpPr txBox="1"/>
          <p:nvPr/>
        </p:nvSpPr>
        <p:spPr>
          <a:xfrm>
            <a:off x="3995936" y="3573016"/>
            <a:ext cx="4536504" cy="1323439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r>
              <a:rPr lang="sl-SI" sz="8000" dirty="0">
                <a:solidFill>
                  <a:srgbClr val="7F7F7F"/>
                </a:solidFill>
                <a:latin typeface="+mn-lt"/>
              </a:rPr>
              <a:t>} </a:t>
            </a:r>
            <a:r>
              <a:rPr lang="sl-SI" sz="2800" dirty="0">
                <a:solidFill>
                  <a:srgbClr val="7F7F7F"/>
                </a:solidFill>
                <a:latin typeface="+mn-lt"/>
              </a:rPr>
              <a:t>10 vrednostnih razredov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60956-C689-DF3E-8B23-E01D8365D97A}"/>
              </a:ext>
            </a:extLst>
          </p:cNvPr>
          <p:cNvSpPr txBox="1"/>
          <p:nvPr/>
        </p:nvSpPr>
        <p:spPr>
          <a:xfrm>
            <a:off x="4148336" y="4809490"/>
            <a:ext cx="4536504" cy="1862048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r>
              <a:rPr lang="sl-SI" sz="11500" dirty="0">
                <a:solidFill>
                  <a:srgbClr val="7F7F7F"/>
                </a:solidFill>
                <a:latin typeface="+mn-lt"/>
              </a:rPr>
              <a:t>}</a:t>
            </a:r>
            <a:r>
              <a:rPr lang="sl-SI" sz="8000" dirty="0">
                <a:solidFill>
                  <a:srgbClr val="7F7F7F"/>
                </a:solidFill>
                <a:latin typeface="+mn-lt"/>
              </a:rPr>
              <a:t> </a:t>
            </a:r>
            <a:r>
              <a:rPr lang="sl-SI" sz="2800" dirty="0">
                <a:solidFill>
                  <a:srgbClr val="7F7F7F"/>
                </a:solidFill>
                <a:latin typeface="+mn-lt"/>
              </a:rPr>
              <a:t>4 vrednostni razredi</a:t>
            </a:r>
          </a:p>
        </p:txBody>
      </p:sp>
    </p:spTree>
    <p:extLst>
      <p:ext uri="{BB962C8B-B14F-4D97-AF65-F5344CB8AC3E}">
        <p14:creationId xmlns:p14="http://schemas.microsoft.com/office/powerpoint/2010/main" val="1470498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14E2-D544-ADE9-5BFD-E51349E6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vrednostnih razredov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BB2C144-0E4D-0072-A5B4-81064E557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055" y="2276162"/>
            <a:ext cx="8323473" cy="259299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E61D-DD35-4688-670D-296EB2F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24C3-543F-9302-9F2B-2DB7B646F7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24</a:t>
            </a:fld>
            <a:endParaRPr lang="sl-SI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44119-3E98-A88E-E283-236B8DA30D11}"/>
              </a:ext>
            </a:extLst>
          </p:cNvPr>
          <p:cNvSpPr txBox="1"/>
          <p:nvPr/>
        </p:nvSpPr>
        <p:spPr>
          <a:xfrm>
            <a:off x="251520" y="1835532"/>
            <a:ext cx="3610744" cy="369332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r>
              <a:rPr lang="sl-SI" dirty="0">
                <a:solidFill>
                  <a:srgbClr val="7F7F7F"/>
                </a:solidFill>
              </a:rPr>
              <a:t>Primer prikaza v sistemu GV</a:t>
            </a:r>
          </a:p>
        </p:txBody>
      </p:sp>
    </p:spTree>
    <p:extLst>
      <p:ext uri="{BB962C8B-B14F-4D97-AF65-F5344CB8AC3E}">
        <p14:creationId xmlns:p14="http://schemas.microsoft.com/office/powerpoint/2010/main" val="1911911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24D6-D5A1-BD2F-9BE1-7ED224F97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količinskih razredov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63C9-F17F-53B2-1B09-DF74A09B3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generiranje ali vpis količinskih razredov</a:t>
            </a:r>
          </a:p>
          <a:p>
            <a:r>
              <a:rPr lang="sl-SI" dirty="0"/>
              <a:t>gre za vrstice z razredi količin v vrednostnih tabelah</a:t>
            </a:r>
          </a:p>
          <a:p>
            <a:r>
              <a:rPr lang="sl-SI" dirty="0"/>
              <a:t>poleg mej razreda zajema tudi (srednjo) količino za izračun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D2A6-89B3-12B1-66F1-0F7FBCE1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A18CA-8A60-26DA-C01D-87A08ACDF4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25</a:t>
            </a:fld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E339D-E20A-10DF-F59A-E9EE8CD58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4293096"/>
            <a:ext cx="4968552" cy="209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78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445E-4448-5C86-A6B0-DD13F64B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Izračun vrednostnih tabel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AF7E-998E-003D-367A-ED1FAC58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2642385"/>
          </a:xfrm>
        </p:spPr>
        <p:txBody>
          <a:bodyPr/>
          <a:lstStyle/>
          <a:p>
            <a:pPr marL="0" indent="0">
              <a:buNone/>
            </a:pPr>
            <a:r>
              <a:rPr lang="sl-SI" sz="2800" dirty="0"/>
              <a:t>Izračun vrednosti v vrednostnih tabelah:</a:t>
            </a:r>
          </a:p>
          <a:p>
            <a:pPr lvl="1"/>
            <a:r>
              <a:rPr lang="sl-SI" sz="2400" dirty="0"/>
              <a:t>vrednosti za vsak vrednostni razred</a:t>
            </a:r>
          </a:p>
          <a:p>
            <a:pPr lvl="1"/>
            <a:r>
              <a:rPr lang="sl-SI" sz="2400" dirty="0"/>
              <a:t>na podlagi preddefiniranih enačb (želimo večjo fleksibilnost kot v sistemu GV)</a:t>
            </a:r>
          </a:p>
          <a:p>
            <a:pPr lvl="1"/>
            <a:r>
              <a:rPr lang="sl-SI" sz="2400" dirty="0"/>
              <a:t>na podlagi parametrov posameznega vrednostnega razreda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99057-A8D1-11B6-8895-1C2382CB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18D89-9498-E8D9-708F-4FC9A06597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26</a:t>
            </a:fld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68A4A1-6191-C396-8C24-10A4CF97D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911145"/>
            <a:ext cx="5472608" cy="267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67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082F-EF28-6624-7AD7-8E09A3BF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Izračun faktorjev preostale življenjske dobe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4875-FA8E-F45A-9F3A-931535786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2361857"/>
          </a:xfrm>
        </p:spPr>
        <p:txBody>
          <a:bodyPr/>
          <a:lstStyle/>
          <a:p>
            <a:r>
              <a:rPr lang="sl-SI" sz="2800" dirty="0"/>
              <a:t>izračun faktorjev preostale ŽD le za 9 od 10 tipov elektrarn</a:t>
            </a:r>
          </a:p>
          <a:p>
            <a:r>
              <a:rPr lang="sl-SI" sz="2800" dirty="0"/>
              <a:t>izračun na podlagi preddefiniranih enačb in parametrov posameznega razreda modela PNE (želimo večjo fleksibilnost kot v sistemu GV)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3633B-84F2-89E2-C434-E0D2BE88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A5A81-D911-F66F-83C7-900FEEBAC7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27</a:t>
            </a:fld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450A4-ED2A-D7E2-6944-26AFF0E0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7" y="3846641"/>
            <a:ext cx="2232248" cy="282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37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FE16-3B78-622E-6AA8-A99D6D1B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Lastnosti referenčnih PEV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D4503-7501-8BC2-0667-B3B9F36C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sl-SI" dirty="0"/>
              <a:t>Orodje ISAM naj omogoča vnos parametrov in vrednosti referenčnih PEV, ki se pripišejo vrednostni ravni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4A902-E832-B38F-9C23-D55FCF37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4BE1A-DC9A-1057-DF1D-1E21F71F50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28</a:t>
            </a:fld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DB0B8-95AE-2842-1996-8B3CEB876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356992"/>
            <a:ext cx="5477639" cy="600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001DA8-B140-5EE8-3987-9F5F46E54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119033"/>
            <a:ext cx="5477639" cy="597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5AC4B2-3E2F-D24F-BEB0-55AB0D435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94" y="4919846"/>
            <a:ext cx="7170946" cy="52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61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BEECD2-B14F-4322-8ACD-CFA2A56A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742950" indent="-742950" fontAlgn="auto"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sl-SI" dirty="0">
                <a:solidFill>
                  <a:schemeClr val="accent6"/>
                </a:solidFill>
              </a:rPr>
              <a:t>Izračun vrednosti PEV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D3BCF5B-0A9B-4A10-A834-BAAC46D984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952B84-E991-4989-B153-ADA648C017F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124" name="Označba mesta številke diapozitiva 4">
            <a:extLst>
              <a:ext uri="{FF2B5EF4-FFF2-40B4-BE49-F238E27FC236}">
                <a16:creationId xmlns:a16="http://schemas.microsoft.com/office/drawing/2014/main" id="{531BF5A1-BB09-40CF-8FDC-2D5EB7596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06248F-A3E4-41B2-A97B-2996F46FBE43}" type="slidenum">
              <a:rPr lang="sl-SI" altLang="sl-SI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sl-SI" altLang="sl-SI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A7C04-F89D-67EE-2C09-1A9D95D2AD4F}"/>
              </a:ext>
            </a:extLst>
          </p:cNvPr>
          <p:cNvSpPr txBox="1"/>
          <p:nvPr/>
        </p:nvSpPr>
        <p:spPr>
          <a:xfrm>
            <a:off x="1090525" y="3438225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izračun vrednosti posamezne PEV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D84CE-DF3C-EEC1-E39C-D927A950678C}"/>
              </a:ext>
            </a:extLst>
          </p:cNvPr>
          <p:cNvSpPr txBox="1"/>
          <p:nvPr/>
        </p:nvSpPr>
        <p:spPr>
          <a:xfrm>
            <a:off x="5893235" y="2072039"/>
            <a:ext cx="1996898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kontrole sestavin PEV (medsebojna skladnost in skladnost s KN)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73155-FA36-EE03-EAB6-4C62D7FD65C4}"/>
              </a:ext>
            </a:extLst>
          </p:cNvPr>
          <p:cNvSpPr txBox="1"/>
          <p:nvPr/>
        </p:nvSpPr>
        <p:spPr>
          <a:xfrm>
            <a:off x="3491880" y="2349039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določitev aktivnih upravljavcev PEV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00687-9BC3-3C0C-2330-A132B0849FDC}"/>
              </a:ext>
            </a:extLst>
          </p:cNvPr>
          <p:cNvSpPr txBox="1"/>
          <p:nvPr/>
        </p:nvSpPr>
        <p:spPr>
          <a:xfrm>
            <a:off x="1090525" y="4388911"/>
            <a:ext cx="1996898" cy="17543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arhiviranje podatkov, uporabljenih v izračunu vrednosti, in vmesnih rezultatov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37BA6F-BBA7-8A64-F912-ACE2F7F5D649}"/>
              </a:ext>
            </a:extLst>
          </p:cNvPr>
          <p:cNvSpPr txBox="1"/>
          <p:nvPr/>
        </p:nvSpPr>
        <p:spPr>
          <a:xfrm>
            <a:off x="1090525" y="2210540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kontrola ustreznosti in popolnosti podatkov za izračun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8CFA2A-2232-81C2-8B20-92BD8B488330}"/>
              </a:ext>
            </a:extLst>
          </p:cNvPr>
          <p:cNvSpPr txBox="1"/>
          <p:nvPr/>
        </p:nvSpPr>
        <p:spPr>
          <a:xfrm>
            <a:off x="5893235" y="4948425"/>
            <a:ext cx="1996898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pripis sestavin posamezni PEV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99917-6768-D368-4157-8A3978CD20B2}"/>
              </a:ext>
            </a:extLst>
          </p:cNvPr>
          <p:cNvSpPr txBox="1"/>
          <p:nvPr/>
        </p:nvSpPr>
        <p:spPr>
          <a:xfrm>
            <a:off x="3491880" y="4809926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arhiviranje podatkov o aktivnih upravljavcih PEV</a:t>
            </a:r>
          </a:p>
        </p:txBody>
      </p:sp>
    </p:spTree>
    <p:extLst>
      <p:ext uri="{BB962C8B-B14F-4D97-AF65-F5344CB8AC3E}">
        <p14:creationId xmlns:p14="http://schemas.microsoft.com/office/powerpoint/2010/main" val="3446573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D473-ECB3-8011-F842-674C2567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Kontrola podatkov za izračun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4104-697F-8179-3180-39699D9F9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kontrola ustreznosti in popolnosti podatkov za izračun vrednosti posamezne PEV</a:t>
            </a:r>
          </a:p>
          <a:p>
            <a:r>
              <a:rPr lang="sl-SI" dirty="0"/>
              <a:t>zahtevani podatki so opredeljeni v posameznem podmodelu</a:t>
            </a:r>
          </a:p>
          <a:p>
            <a:r>
              <a:rPr lang="sl-SI" dirty="0"/>
              <a:t>gre za podatke:</a:t>
            </a:r>
          </a:p>
          <a:p>
            <a:pPr lvl="1"/>
            <a:r>
              <a:rPr lang="sl-SI" dirty="0"/>
              <a:t>za določitev tipa/vrste PEV</a:t>
            </a:r>
          </a:p>
          <a:p>
            <a:pPr lvl="1"/>
            <a:r>
              <a:rPr lang="sl-SI" dirty="0"/>
              <a:t>za izračun količin</a:t>
            </a:r>
          </a:p>
          <a:p>
            <a:pPr lvl="1"/>
            <a:r>
              <a:rPr lang="sl-SI" dirty="0"/>
              <a:t>za izračun faktorja preostale ŽD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0D5C-274B-C99A-897F-2F30D64D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BD3FB-E5CA-1957-8418-E2036CBC14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30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0197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D473-ECB3-8011-F842-674C2567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Kontrola podatkov za izračun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4104-697F-8179-3180-39699D9F9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podatki morajo biti med upravljavci usklajeni (različni upravljavci morajo imeti za isto PEV iste podatke za izračun vrednosti)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0D5C-274B-C99A-897F-2F30D64D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BD3FB-E5CA-1957-8418-E2036CBC14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31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45639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ECEB-A5D6-D678-6479-5C4D0976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Določitev aktivnih upravljavcev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7604-FA7B-21E0-2FB1-0AE47139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/>
              <a:t>Vsaka aktivna PEV ima enega ali več aktivnih upravljavcev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B0A37-29B5-B916-6032-D5D9CD85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69E8B-517D-CEE8-F0C4-1DC9648CD5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33161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1050-D676-A60B-BE7D-4736D4F8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Izračun vrednosti PEV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73279-B8A4-7776-D77B-D43410AC9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sl-SI" dirty="0"/>
              <a:t>Vsaki aktivni PEV se izračuna posplošena vrednost na podlagi:</a:t>
            </a:r>
          </a:p>
          <a:p>
            <a:pPr lvl="1"/>
            <a:r>
              <a:rPr lang="sl-SI" dirty="0"/>
              <a:t>pravil izračuna za vsak podmodel (trenutno 5 različnih pravil za 5 podmodelov – PNB, PNE-SIE, PNE-OST, PNP-M in PNP-P)</a:t>
            </a:r>
          </a:p>
          <a:p>
            <a:pPr lvl="1"/>
            <a:r>
              <a:rPr lang="sl-SI" dirty="0"/>
              <a:t>količin za izračun vrednosti in podatkov za izračun faktorja preostale ŽD</a:t>
            </a:r>
          </a:p>
          <a:p>
            <a:pPr lvl="1"/>
            <a:r>
              <a:rPr lang="sl-SI" dirty="0"/>
              <a:t>parametrov, enačb in faktorjev verzij modelov</a:t>
            </a:r>
          </a:p>
          <a:p>
            <a:pPr lvl="1"/>
            <a:r>
              <a:rPr lang="sl-SI" dirty="0"/>
              <a:t>vrednostnih tabel</a:t>
            </a:r>
          </a:p>
          <a:p>
            <a:pPr lvl="1"/>
            <a:r>
              <a:rPr lang="sl-SI" dirty="0"/>
              <a:t>tabel faktorjev preostale ŽD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D5CF-9E19-43F0-594B-E82F6AD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82FEF-2119-FE73-5667-331DB606F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33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968468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9B32-76C1-C0AB-F79E-EB893605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Arhiviranje podatkov, uporabljenih v izračunu, in vmesnih rezultatov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076D-44DA-5835-7838-59673CEB4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sz="2800" dirty="0"/>
              <a:t>Po izvedenem izračunu vrednosti PEV se v bazo shranijo:</a:t>
            </a:r>
          </a:p>
          <a:p>
            <a:pPr lvl="1"/>
            <a:r>
              <a:rPr lang="sl-SI" sz="2400" dirty="0"/>
              <a:t>izračunane vrednosti aktivnih PEV</a:t>
            </a:r>
          </a:p>
          <a:p>
            <a:pPr lvl="1"/>
            <a:r>
              <a:rPr lang="sl-SI" sz="2400" dirty="0"/>
              <a:t>podatki za izračun vrednosti PEV</a:t>
            </a:r>
          </a:p>
          <a:p>
            <a:pPr lvl="1"/>
            <a:r>
              <a:rPr lang="sl-SI" sz="2400" dirty="0"/>
              <a:t>določeni vmesni rezultati izračuna vrednosti</a:t>
            </a:r>
          </a:p>
          <a:p>
            <a:pPr lvl="1"/>
            <a:r>
              <a:rPr lang="sl-SI" sz="2400" dirty="0"/>
              <a:t>upravljavci PEV in njihovi podatki</a:t>
            </a:r>
          </a:p>
          <a:p>
            <a:pPr lvl="1"/>
            <a:r>
              <a:rPr lang="sl-SI" sz="2400" dirty="0"/>
              <a:t>nepremičnine, ki v trenutku izračuna vrednosti sestavljajo PEV (opcija)</a:t>
            </a:r>
          </a:p>
          <a:p>
            <a:pPr lvl="1"/>
            <a:r>
              <a:rPr lang="sl-SI" sz="2400" dirty="0"/>
              <a:t>nekateri drugi podatki, ki se tudi izvažajo v EV (npr. centroid PEV, občina PEV)</a:t>
            </a:r>
          </a:p>
          <a:p>
            <a:pPr lvl="1"/>
            <a:endParaRPr lang="sl-SI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6A5C-5350-489B-7E38-6CDBC986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FDFE7-9AED-3F47-842B-876EDE892D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760627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BEECD2-B14F-4322-8ACD-CFA2A56A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742950" indent="-742950" fontAlgn="auto"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sl-SI" dirty="0">
                <a:solidFill>
                  <a:schemeClr val="accent6"/>
                </a:solidFill>
              </a:rPr>
              <a:t>Izvoz podatkov PEV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D3BCF5B-0A9B-4A10-A834-BAAC46D984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952B84-E991-4989-B153-ADA648C017F5}" type="datetime1">
              <a:rPr lang="sl-SI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124" name="Označba mesta številke diapozitiva 4">
            <a:extLst>
              <a:ext uri="{FF2B5EF4-FFF2-40B4-BE49-F238E27FC236}">
                <a16:creationId xmlns:a16="http://schemas.microsoft.com/office/drawing/2014/main" id="{531BF5A1-BB09-40CF-8FDC-2D5EB7596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606248F-A3E4-41B2-A97B-2996F46FBE43}" type="slidenum">
              <a:rPr lang="sl-SI" altLang="sl-SI">
                <a:solidFill>
                  <a:schemeClr val="bg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sl-SI" altLang="sl-SI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3B1A9-1874-3299-0698-C670C64A78BB}"/>
              </a:ext>
            </a:extLst>
          </p:cNvPr>
          <p:cNvSpPr txBox="1"/>
          <p:nvPr/>
        </p:nvSpPr>
        <p:spPr>
          <a:xfrm>
            <a:off x="1258464" y="1620089"/>
            <a:ext cx="5997158" cy="58477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ctr"/>
            <a:r>
              <a:rPr lang="sl-SI" sz="3200" dirty="0">
                <a:solidFill>
                  <a:srgbClr val="7F7F7F"/>
                </a:solidFill>
              </a:rPr>
              <a:t>Izvoz PEV v XML obliki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9C16B-D61E-54E6-F8FC-9F2F98C74743}"/>
              </a:ext>
            </a:extLst>
          </p:cNvPr>
          <p:cNvSpPr txBox="1"/>
          <p:nvPr/>
        </p:nvSpPr>
        <p:spPr>
          <a:xfrm>
            <a:off x="1638998" y="3159259"/>
            <a:ext cx="1996898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izdelava izhodne XML datoteke s podatki PEV za EV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405EB0-EEC8-2CDE-5170-24A5D668AEA9}"/>
              </a:ext>
            </a:extLst>
          </p:cNvPr>
          <p:cNvSpPr txBox="1"/>
          <p:nvPr/>
        </p:nvSpPr>
        <p:spPr>
          <a:xfrm>
            <a:off x="5148064" y="3020759"/>
            <a:ext cx="1996898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36000" tIns="45720" rIns="36000" bIns="45720" rtlCol="0" anchor="ctr">
            <a:spAutoFit/>
          </a:bodyPr>
          <a:lstStyle/>
          <a:p>
            <a:pPr algn="ctr"/>
            <a:r>
              <a:rPr lang="sl-SI" dirty="0"/>
              <a:t>izdelava izhodne XML datoteke s podatki modelov PEV za EMV</a:t>
            </a:r>
          </a:p>
        </p:txBody>
      </p:sp>
    </p:spTree>
    <p:extLst>
      <p:ext uri="{BB962C8B-B14F-4D97-AF65-F5344CB8AC3E}">
        <p14:creationId xmlns:p14="http://schemas.microsoft.com/office/powerpoint/2010/main" val="2145126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7EFB-BAA9-4C51-AF77-9D3CC0FE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Izdelava izhodne XML datoteke s podatki PEV za 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4DCD8-98DC-9FF0-0D49-08FB63075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/>
              <a:t>Po izvedbi izračuna vrednosti naj sistem ISAM omogoča izvoz podatkov PEV v EV v obliki izhodne XML datoteke, ki zajema:</a:t>
            </a:r>
          </a:p>
          <a:p>
            <a:pPr lvl="1"/>
            <a:r>
              <a:rPr lang="sl-SI" dirty="0"/>
              <a:t>podatke upravljavcev PEV</a:t>
            </a:r>
          </a:p>
          <a:p>
            <a:pPr lvl="1"/>
            <a:r>
              <a:rPr lang="sl-SI" dirty="0"/>
              <a:t>podatke, kateri upravljavci upravljajo PEV</a:t>
            </a:r>
          </a:p>
          <a:p>
            <a:pPr lvl="1"/>
            <a:r>
              <a:rPr lang="sl-SI" dirty="0"/>
              <a:t>osnovne podatke o PEV</a:t>
            </a:r>
          </a:p>
          <a:p>
            <a:pPr lvl="1"/>
            <a:r>
              <a:rPr lang="sl-SI" dirty="0"/>
              <a:t>podatke o poslovanju PEV (za izračun vrednosti)</a:t>
            </a:r>
          </a:p>
          <a:p>
            <a:pPr lvl="1"/>
            <a:r>
              <a:rPr lang="sl-SI" dirty="0"/>
              <a:t>vmesne rezultate izračuna vrednosti PEV</a:t>
            </a:r>
          </a:p>
          <a:p>
            <a:pPr lvl="1"/>
            <a:r>
              <a:rPr lang="sl-SI" dirty="0"/>
              <a:t>podatke o parcelah in delih stavb PEV</a:t>
            </a:r>
          </a:p>
          <a:p>
            <a:pPr lvl="1"/>
            <a:endParaRPr lang="sl-SI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E47CF-013A-E16F-EAD3-70CFDCEB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A5A9F-EE0E-EE97-6DF2-42C6ECC4A6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36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90229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40AF-1A11-92B7-3040-7B80344E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0" dirty="0"/>
              <a:t>Izdelava izhodne XML datoteke s podatki modelov PEV za EMV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E0B0-3A30-6578-1145-33729DA4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/>
              <a:t>Po opredelitvi verzije modela naj sistem ISAM omogoča izvoz parametrov modela PEV v evidenco modelov vrednotenja (EMV) v obliki izhodne XML datoteke, ki zajema:</a:t>
            </a:r>
          </a:p>
          <a:p>
            <a:pPr lvl="1"/>
            <a:r>
              <a:rPr lang="sl-SI" dirty="0"/>
              <a:t>podatke o vrednostnih ravneh verzije modela vključno z vrednostmi referenčnih PEV</a:t>
            </a:r>
          </a:p>
          <a:p>
            <a:pPr lvl="1"/>
            <a:r>
              <a:rPr lang="sl-SI" dirty="0"/>
              <a:t>podatke o conah verzije modela (atributni podatki in geometrije con)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2EF1B-9034-4022-5909-35645AAE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62867-AF6B-4C1A-91BF-67FA9C55FF85}" type="datetime1">
              <a:rPr lang="sl-SI" smtClean="0"/>
              <a:pPr>
                <a:defRPr/>
              </a:pPr>
              <a:t>10. 02. 2025</a:t>
            </a:fld>
            <a:endParaRPr lang="sl-SI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B2923-77DE-E735-AF34-925F9BC6D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436866-7FFB-4167-845B-ABDE039C6A34}" type="slidenum">
              <a:rPr lang="sl-SI" smtClean="0"/>
              <a:pPr>
                <a:defRPr/>
              </a:pPr>
              <a:t>37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88943832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MVN tamplate">
  <a:themeElements>
    <a:clrScheme name="Custom 1">
      <a:dk1>
        <a:sysClr val="windowText" lastClr="000000"/>
      </a:dk1>
      <a:lt1>
        <a:sysClr val="window" lastClr="FFFFFF"/>
      </a:lt1>
      <a:dk2>
        <a:srgbClr val="4E5B6F"/>
      </a:dk2>
      <a:lt2>
        <a:srgbClr val="F2F2F2"/>
      </a:lt2>
      <a:accent1>
        <a:srgbClr val="5EA226"/>
      </a:accent1>
      <a:accent2>
        <a:srgbClr val="C00000"/>
      </a:accent2>
      <a:accent3>
        <a:srgbClr val="FED46B"/>
      </a:accent3>
      <a:accent4>
        <a:srgbClr val="00ADDC"/>
      </a:accent4>
      <a:accent5>
        <a:srgbClr val="738AC8"/>
      </a:accent5>
      <a:accent6>
        <a:srgbClr val="138677"/>
      </a:accent6>
      <a:hlink>
        <a:srgbClr val="FCB95D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vert="horz" wrap="none" lIns="0" tIns="45720" rIns="0" bIns="45720" rtlCol="0" anchor="ctr"/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6009</TotalTime>
  <Words>1565</Words>
  <Application>Microsoft Office PowerPoint</Application>
  <PresentationFormat>On-screen Show (4:3)</PresentationFormat>
  <Paragraphs>277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Presentation MVN tamplate</vt:lpstr>
      <vt:lpstr>Modeliranje PEV</vt:lpstr>
      <vt:lpstr>Modeli PEV</vt:lpstr>
      <vt:lpstr>Modeli PEV</vt:lpstr>
      <vt:lpstr>Struktura modela za bencinske servise (PNB)</vt:lpstr>
      <vt:lpstr>Struktura modela za bencinske servise (PNB)</vt:lpstr>
      <vt:lpstr>Struktura modela za bencinske servise (PNB)</vt:lpstr>
      <vt:lpstr>Struktura modela za elektrarne (PNE)</vt:lpstr>
      <vt:lpstr>Struktura modela za elektrarne (PNE)</vt:lpstr>
      <vt:lpstr>Struktura modela za elektrarne (PNE)</vt:lpstr>
      <vt:lpstr>Struktura modela za elektrarne (PNE)</vt:lpstr>
      <vt:lpstr>Struktura modela za elektrarne (PNE)</vt:lpstr>
      <vt:lpstr>Struktura modela za marine in pristanišča (PNP)</vt:lpstr>
      <vt:lpstr>Struktura modela za marine in pristanišča (PNP)</vt:lpstr>
      <vt:lpstr>Struktura modela za marine in pristanišča (PNP)</vt:lpstr>
      <vt:lpstr>Struktura modela za marine in pristanišča (PNP)</vt:lpstr>
      <vt:lpstr>Vodenje modelov PEV</vt:lpstr>
      <vt:lpstr>Vodenje verzij modelov</vt:lpstr>
      <vt:lpstr>Vodenje verzij modelov</vt:lpstr>
      <vt:lpstr>Določitev parametrov, enačb in faktorjev</vt:lpstr>
      <vt:lpstr>Določitev parametrov, enačb in faktorjev</vt:lpstr>
      <vt:lpstr>Vodenje vrednostnih ravni in con</vt:lpstr>
      <vt:lpstr>Določitev vrednostnih razredov</vt:lpstr>
      <vt:lpstr>Določitev vrednostnih razredov</vt:lpstr>
      <vt:lpstr>Določitev vrednostnih razredov</vt:lpstr>
      <vt:lpstr>Določitev količinskih razredov</vt:lpstr>
      <vt:lpstr>Izračun vrednostnih tabel</vt:lpstr>
      <vt:lpstr>Izračun faktorjev preostale življenjske dobe</vt:lpstr>
      <vt:lpstr>Lastnosti referenčnih PEV</vt:lpstr>
      <vt:lpstr>Izračun vrednosti PEV</vt:lpstr>
      <vt:lpstr>Kontrola podatkov za izračun</vt:lpstr>
      <vt:lpstr>Kontrola podatkov za izračun</vt:lpstr>
      <vt:lpstr>Določitev aktivnih upravljavcev</vt:lpstr>
      <vt:lpstr>Izračun vrednosti PEV</vt:lpstr>
      <vt:lpstr>Arhiviranje podatkov, uporabljenih v izračunu, in vmesnih rezultatov</vt:lpstr>
      <vt:lpstr>Izvoz podatkov PEV</vt:lpstr>
      <vt:lpstr>Izdelava izhodne XML datoteke s podatki PEV za EV</vt:lpstr>
      <vt:lpstr>Izdelava izhodne XML datoteke s podatki modelov PEV za EMV</vt:lpstr>
    </vt:vector>
  </TitlesOfParts>
  <Company>GURS, Urad za množično vrednotenje nepremičnin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Matjaž Oberžan</dc:creator>
  <cp:lastModifiedBy>Matjaž Oberžan</cp:lastModifiedBy>
  <cp:revision>116</cp:revision>
  <dcterms:created xsi:type="dcterms:W3CDTF">2018-03-22T12:49:50Z</dcterms:created>
  <dcterms:modified xsi:type="dcterms:W3CDTF">2025-02-10T14:30:18Z</dcterms:modified>
</cp:coreProperties>
</file>